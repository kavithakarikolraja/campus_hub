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900" r:id="rId3"/>
    <p:sldId id="3047" r:id="rId5"/>
    <p:sldId id="3061" r:id="rId6"/>
    <p:sldId id="3062" r:id="rId7"/>
    <p:sldId id="3048" r:id="rId8"/>
    <p:sldId id="3050" r:id="rId9"/>
    <p:sldId id="3051" r:id="rId10"/>
    <p:sldId id="3070" r:id="rId11"/>
    <p:sldId id="3052" r:id="rId12"/>
    <p:sldId id="2824" r:id="rId13"/>
  </p:sldIdLst>
  <p:sldSz cx="12192000" cy="685927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0033CC"/>
    <a:srgbClr val="0F7B14"/>
    <a:srgbClr val="60943C"/>
    <a:srgbClr val="30129E"/>
    <a:srgbClr val="A01032"/>
    <a:srgbClr val="A8086F"/>
    <a:srgbClr val="CC66FF"/>
    <a:srgbClr val="B54BA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35" autoAdjust="0"/>
    <p:restoredTop sz="97509" autoAdjust="0"/>
  </p:normalViewPr>
  <p:slideViewPr>
    <p:cSldViewPr snapToGrid="0" showGuides="1">
      <p:cViewPr varScale="1">
        <p:scale>
          <a:sx n="73" d="100"/>
          <a:sy n="73" d="100"/>
        </p:scale>
        <p:origin x="-582" y="-102"/>
      </p:cViewPr>
      <p:guideLst>
        <p:guide orient="horz" pos="2143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8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4031E-4965-4D73-A6FD-DA6850EFA0FE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CCC2B-8464-441C-B444-6B66B39A0BB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1C874-3A56-496F-AA0C-A97640BE0B87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46BDA-6340-402D-935E-5DCD2D8651A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1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46BDA-6340-402D-935E-5DCD2D8651AC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16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778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778BD-013D-4447-B35A-D3B9D4A8D76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7938"/>
            <a:ext cx="2844800" cy="365125"/>
          </a:xfrm>
          <a:prstGeom prst="rect">
            <a:avLst/>
          </a:prstGeom>
        </p:spPr>
        <p:txBody>
          <a:bodyPr/>
          <a:lstStyle/>
          <a:p>
            <a:fld id="{9CB534C4-8DBF-487C-B2FE-4904547109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E5A9-E8B5-4987-8FE5-F442E236E75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7938"/>
            <a:ext cx="2844800" cy="365125"/>
          </a:xfrm>
          <a:prstGeom prst="rect">
            <a:avLst/>
          </a:prstGeom>
        </p:spPr>
        <p:txBody>
          <a:bodyPr/>
          <a:lstStyle/>
          <a:p>
            <a:fld id="{9CB534C4-8DBF-487C-B2FE-4904547109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B349F-6F85-4C11-B52A-B3CF222F534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7938"/>
            <a:ext cx="2844800" cy="365125"/>
          </a:xfrm>
          <a:prstGeom prst="rect">
            <a:avLst/>
          </a:prstGeom>
        </p:spPr>
        <p:txBody>
          <a:bodyPr/>
          <a:lstStyle/>
          <a:p>
            <a:fld id="{9CB534C4-8DBF-487C-B2FE-4904547109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5627-51BB-4C72-B8DD-BA242793A2B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7938"/>
            <a:ext cx="2844800" cy="365125"/>
          </a:xfrm>
          <a:prstGeom prst="rect">
            <a:avLst/>
          </a:prstGeom>
        </p:spPr>
        <p:txBody>
          <a:bodyPr/>
          <a:lstStyle/>
          <a:p>
            <a:fld id="{9CB534C4-8DBF-487C-B2FE-4904547109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97C19-3FFD-4DA6-A6C1-F46574407C6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7938"/>
            <a:ext cx="2844800" cy="365125"/>
          </a:xfrm>
          <a:prstGeom prst="rect">
            <a:avLst/>
          </a:prstGeom>
        </p:spPr>
        <p:txBody>
          <a:bodyPr/>
          <a:lstStyle/>
          <a:p>
            <a:fld id="{9CB534C4-8DBF-487C-B2FE-4904547109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7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793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75EDA-7FA9-40F5-A51E-D7B75A39B2E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7938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1725275" y="6520935"/>
            <a:ext cx="619125" cy="2616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B534C4-8DBF-487C-B2FE-4904547109FE}" type="slidenum">
              <a:rPr lang="en-US" sz="1050" b="1" smtClean="0">
                <a:solidFill>
                  <a:schemeClr val="tx2"/>
                </a:solidFill>
                <a:latin typeface="Arial Black" panose="020B0A04020102020204" pitchFamily="34" charset="0"/>
              </a:rPr>
            </a:fld>
            <a:endParaRPr lang="en-US" sz="1050" b="1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96253" y="64168"/>
            <a:ext cx="12015535" cy="1465311"/>
          </a:xfrm>
          <a:prstGeom prst="rect">
            <a:avLst/>
          </a:prstGeom>
          <a:solidFill>
            <a:srgbClr val="0F7B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8890" y="344950"/>
            <a:ext cx="1192474" cy="9037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33180" y="306377"/>
            <a:ext cx="814771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cap="al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NANDHA ENGINEERING COLLEGE </a:t>
            </a:r>
            <a:endParaRPr lang="en-IN" sz="3200" cap="all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cap="al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  <a:endParaRPr lang="en-IN" cap="all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cap="al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ERODE – 638 052, TAMIL NADU,</a:t>
            </a:r>
            <a:r>
              <a:rPr lang="en-IN" cap="al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cap="al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INDIA.</a:t>
            </a:r>
            <a:endParaRPr lang="en-IN" cap="all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96254" y="1596786"/>
            <a:ext cx="12015534" cy="400110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 8"/>
          <p:cNvGraphicFramePr>
            <a:graphicFrameLocks noGrp="1"/>
          </p:cNvGraphicFramePr>
          <p:nvPr/>
        </p:nvGraphicFramePr>
        <p:xfrm>
          <a:off x="96253" y="3506635"/>
          <a:ext cx="12015532" cy="2112171"/>
        </p:xfrm>
        <a:graphic>
          <a:graphicData uri="http://schemas.openxmlformats.org/drawingml/2006/table">
            <a:tbl>
              <a:tblPr/>
              <a:tblGrid>
                <a:gridCol w="2215514"/>
                <a:gridCol w="2417661"/>
                <a:gridCol w="2773437"/>
                <a:gridCol w="4608920"/>
              </a:tblGrid>
              <a:tr h="631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Details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No. of Candidates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Candidate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Supervisor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9509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No:19</a:t>
                      </a:r>
                      <a:endParaRPr lang="en-IN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I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23AI0</a:t>
                      </a:r>
                      <a:r>
                        <a:rPr kumimoji="0" lang="en-US" altLang="en-I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27</a:t>
                      </a:r>
                      <a:endParaRPr kumimoji="0" lang="en-US" altLang="en-I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altLang="en-I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KAVITHA K</a:t>
                      </a:r>
                      <a:endParaRPr kumimoji="0" lang="en-US" altLang="en-I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/>
                      <a:r>
                        <a:rPr lang="en-IN" sz="1800" b="0" i="0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IN" sz="1800" b="0" i="0" u="none" strike="noStrike" kern="1200" baseline="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en-IN" sz="1800" b="0" i="0" u="none" strike="noStrike" kern="1200" baseline="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r.S.D.VIJAYAKUMAR</a:t>
                      </a:r>
                      <a:endParaRPr lang="en-US" altLang="en-IN" sz="1800" b="0" i="0" u="none" strike="noStrike" kern="1200" baseline="0" dirty="0" err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</a:tr>
              <a:tr h="29509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SDG: 4,9</a:t>
                      </a:r>
                      <a:endParaRPr lang="en-IN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I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23AI0</a:t>
                      </a:r>
                      <a:r>
                        <a:rPr kumimoji="0" lang="en-US" altLang="en-I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40</a:t>
                      </a:r>
                      <a:endParaRPr kumimoji="0" lang="en-US" altLang="en-I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IN" sz="18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MONIKA B R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Designation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4843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IN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8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Professor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96253" y="2064645"/>
            <a:ext cx="12015533" cy="133794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indent="457200"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22AIC15 – FULL STACK DEVELOPMENT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PBL  - REVIEW 0</a:t>
            </a:r>
            <a:endParaRPr kumimoji="0" lang="en-US" b="1" i="0" u="none" strike="noStrike" cap="none" normalizeH="0" dirty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457200"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 / SEMESTER : III / 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457200"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REAL TIME P2P CAMPUS SERVICE HUB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>
          <a:xfrm>
            <a:off x="609600" y="6357938"/>
            <a:ext cx="1650274" cy="365125"/>
          </a:xfrm>
        </p:spPr>
        <p:txBody>
          <a:bodyPr/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26/02/26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CFF"/>
          </a:solidFill>
        </p:spPr>
        <p:txBody>
          <a:bodyPr/>
          <a:lstStyle/>
          <a:p>
            <a:r>
              <a:rPr lang="en-US" altLang="en-IN" b="1" dirty="0" smtClean="0">
                <a:latin typeface="Times New Roman" panose="02020603050405020304"/>
                <a:ea typeface="Times New Roman" panose="02020603050405020304"/>
              </a:rPr>
              <a:t>PROBLEM STATEMENT</a:t>
            </a:r>
            <a:endParaRPr lang="en-US" altLang="en-IN" b="1" dirty="0" smtClean="0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599" y="1532281"/>
            <a:ext cx="10972801" cy="470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possess valuable technical skills, project knowledge, coding experience, research insights, and competitive exam preparation strategies, but there is no structured platform inside campus to share this knowledge effectively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transfer currently depends on informal networks, leading to loss of technical expertise, duplication of effort, and underutilization of student talent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recognition and incentive systems discourages students from actively contributing their skills and resources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 centralized digital infrastructure limits collaborative innovation and peer-driven learning within the institution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gap directly impacts SDG 4 (Quality Education) by reducing knowledge accessibility and SDG 9 (Industry, Innovation &amp; Infrastructure) by lacking a digital knowledge ecosystem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CFF"/>
          </a:solidFill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/>
                <a:ea typeface="Times New Roman" panose="02020603050405020304"/>
              </a:rPr>
              <a:t>ABSTRACT</a:t>
            </a:r>
            <a:endParaRPr lang="en-IN" b="1" dirty="0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599" y="1993927"/>
            <a:ext cx="10972801" cy="378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P2P Campus Service Hub is a MERN-based platform designed to enable structured sharing of academic, technical, and skill-based knowledge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students to post questions, share coding solutions, upload technical resources, and exchange project-related insights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reward-driven contribution model encourages active participation and continuous knowledge exchange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functions as a campus-level digital knowledge infrastructure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creates a collaborative and innovation-focused learning ecosystem aligned with SDG goals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CFF"/>
          </a:solidFill>
        </p:spPr>
        <p:txBody>
          <a:bodyPr>
            <a:normAutofit/>
          </a:bodyPr>
          <a:lstStyle/>
          <a:p>
            <a:r>
              <a:rPr lang="en-US" altLang="en-US" b="1" dirty="0" smtClean="0">
                <a:latin typeface="Times New Roman" panose="02020603050405020304"/>
                <a:ea typeface="Times New Roman" panose="02020603050405020304"/>
              </a:rPr>
              <a:t>SCOPE OF THE PROJECT</a:t>
            </a:r>
            <a:endParaRPr lang="en-US" altLang="en-US" b="1" dirty="0" smtClean="0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599" y="2340002"/>
            <a:ext cx="10972801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at campus level covering academic, technical, and skill-based knowledge domains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Modules include Q&amp;A system, resource sharing, points &amp; rewards engine, and leaderboard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Categorization by domain such as programming, projects, research, placements, and competitive exams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 authentication and role-based access control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Administrative dashboard for content moderation and performance monitoring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CFF"/>
          </a:solidFill>
        </p:spPr>
        <p:txBody>
          <a:bodyPr>
            <a:noAutofit/>
          </a:bodyPr>
          <a:lstStyle/>
          <a:p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METHODOLOGY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en-US" altLang="en-US" sz="2220">
                <a:latin typeface="Times New Roman" panose="02020603050405020304" pitchFamily="18" charset="0"/>
                <a:cs typeface="Times New Roman" panose="02020603050405020304" pitchFamily="18" charset="0"/>
              </a:rPr>
              <a:t>Students use WhatsApp/Telegram groups for doubt solving and resource sharing</a:t>
            </a:r>
            <a:endParaRPr lang="en-US" altLang="en-US" sz="222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20">
                <a:latin typeface="Times New Roman" panose="02020603050405020304" pitchFamily="18" charset="0"/>
                <a:cs typeface="Times New Roman" panose="02020603050405020304" pitchFamily="18" charset="0"/>
              </a:rPr>
              <a:t>Shared content gets lost under unrelated messages</a:t>
            </a:r>
            <a:endParaRPr lang="en-US" altLang="en-US" sz="222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20">
                <a:latin typeface="Times New Roman" panose="02020603050405020304" pitchFamily="18" charset="0"/>
                <a:cs typeface="Times New Roman" panose="02020603050405020304" pitchFamily="18" charset="0"/>
              </a:rPr>
              <a:t>No searchable archive for questions and solutions</a:t>
            </a:r>
            <a:endParaRPr lang="en-US" altLang="en-US" sz="222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20">
                <a:latin typeface="Times New Roman" panose="02020603050405020304" pitchFamily="18" charset="0"/>
                <a:cs typeface="Times New Roman" panose="02020603050405020304" pitchFamily="18" charset="0"/>
              </a:rPr>
              <a:t>Files are shared via unorganized links with no categorization</a:t>
            </a:r>
            <a:endParaRPr lang="en-US" altLang="en-US" sz="222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20">
                <a:latin typeface="Times New Roman" panose="02020603050405020304" pitchFamily="18" charset="0"/>
                <a:cs typeface="Times New Roman" panose="02020603050405020304" pitchFamily="18" charset="0"/>
              </a:rPr>
              <a:t>No reward, quality check, or contribution measurement exists</a:t>
            </a:r>
            <a:endParaRPr lang="en-US" altLang="en-US" sz="222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2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resources and coding solutions are shared without structured storage or long-term access</a:t>
            </a:r>
            <a:endParaRPr lang="en-US" altLang="en-US" sz="222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CFF"/>
          </a:solidFill>
        </p:spPr>
        <p:txBody>
          <a:bodyPr>
            <a:normAutofit/>
          </a:bodyPr>
          <a:lstStyle/>
          <a:p>
            <a:r>
              <a:rPr lang="en-US" altLang="en-US" b="1" dirty="0">
                <a:latin typeface="Times New Roman" panose="02020603050405020304"/>
                <a:ea typeface="Times New Roman" panose="02020603050405020304"/>
              </a:rPr>
              <a:t>PROPOSED METHODOLOGY</a:t>
            </a:r>
            <a:endParaRPr lang="en-US" altLang="en-US" b="1" dirty="0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840926"/>
            <a:ext cx="10972801" cy="4382893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centralized MERN-based digital knowledge exchange platform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categorization of academic, technical, and skill-based content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Gamified reward mechanism to incentivize knowledge contribution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and interactive engagement features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a sustainable campus knowledge economy powered by student participation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CFF"/>
          </a:solidFill>
        </p:spPr>
        <p:txBody>
          <a:bodyPr>
            <a:normAutofit/>
          </a:bodyPr>
          <a:lstStyle/>
          <a:p>
            <a:r>
              <a:rPr lang="en-US" altLang="en-US" b="1" dirty="0">
                <a:latin typeface="Times New Roman" panose="02020603050405020304"/>
                <a:ea typeface="Times New Roman" panose="02020603050405020304"/>
              </a:rPr>
              <a:t>ARCHITECTURE </a:t>
            </a:r>
            <a:endParaRPr lang="en-US" altLang="en-US" b="1" dirty="0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8160" y="1950720"/>
            <a:ext cx="5577205" cy="36906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 frontend manages user interface and interactive experience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and Express.js handle backend logic, API routing, and business rules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 stores structured data including users, resources, questions, and rewards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flow follows: User → Frontend → Backend API → Database → Response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6186170" y="2214880"/>
            <a:ext cx="5652135" cy="2734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CFF"/>
          </a:solidFill>
        </p:spPr>
        <p:txBody>
          <a:bodyPr>
            <a:normAutofit/>
          </a:bodyPr>
          <a:lstStyle/>
          <a:p>
            <a:r>
              <a:rPr lang="en-US" altLang="en-US" b="1" dirty="0">
                <a:latin typeface="Times New Roman" panose="02020603050405020304"/>
                <a:ea typeface="Times New Roman" panose="02020603050405020304"/>
              </a:rPr>
              <a:t>CONCLUSION</a:t>
            </a:r>
            <a:endParaRPr lang="en-US" altLang="en-US" b="1" dirty="0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840926"/>
            <a:ext cx="10972801" cy="4382893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a structured digital knowledge-sharing infrastructure inside campus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innovation, collaboration, and peer-driven learning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 measurable and reward-based contribution ecosystem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institutional intellectual capital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SDG 4 and SDG 9 by strengthening educational access and digital infrastructure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CFF"/>
          </a:solidFill>
        </p:spPr>
        <p:txBody>
          <a:bodyPr/>
          <a:lstStyle/>
          <a:p>
            <a:r>
              <a:rPr lang="en-US" altLang="en-IN" b="1" dirty="0" smtClean="0">
                <a:latin typeface="Times New Roman" panose="02020603050405020304"/>
                <a:ea typeface="Times New Roman" panose="02020603050405020304"/>
              </a:rPr>
              <a:t>FUTURE WORK</a:t>
            </a:r>
            <a:endParaRPr lang="en-US" altLang="en-IN" b="1" dirty="0" smtClean="0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mobile application version to improve accessibility and real-time engagement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Multi-campus expansion to connect students from different institutions into a shared knowledge network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college ERP or LMS systems for structured academic collaboration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Conversion of reward points into digital certificates, campus credits, or participation recognition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hank You Images – Browse 195,496 Stock Photos, Vectors, and Video | Adobe  Stock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291" y="1821048"/>
            <a:ext cx="7557419" cy="321749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isometricOffAxis1Righ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0" y="0"/>
            <a:ext cx="2209800" cy="1085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-28577" y="6237027"/>
            <a:ext cx="3290391" cy="638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9062113" y="3075"/>
            <a:ext cx="3148937" cy="624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0" name="AutoShape 2" descr="Thank You Flowers Images – Browse 357,199 Stock Photo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145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4074</Words>
  <Application>WPS Presentation</Application>
  <PresentationFormat>Custom</PresentationFormat>
  <Paragraphs>128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 Black</vt:lpstr>
      <vt:lpstr>Times New Roman</vt:lpstr>
      <vt:lpstr>Times New Roman</vt:lpstr>
      <vt:lpstr>Calibri</vt:lpstr>
      <vt:lpstr>Microsoft YaHei</vt:lpstr>
      <vt:lpstr>Arial Unicode MS</vt:lpstr>
      <vt:lpstr>Custom Design</vt:lpstr>
      <vt:lpstr>PowerPoint 演示文稿</vt:lpstr>
      <vt:lpstr>Introduction</vt:lpstr>
      <vt:lpstr>Problem Definition</vt:lpstr>
      <vt:lpstr>Objectives of the Study</vt:lpstr>
      <vt:lpstr>EXISTING TECHNIQUES:LITERATURE SURVEY</vt:lpstr>
      <vt:lpstr>Proposed System Overview</vt:lpstr>
      <vt:lpstr>Methodology / Workflow</vt:lpstr>
      <vt:lpstr>PROPOSED METHODOLOGY</vt:lpstr>
      <vt:lpstr>Advantages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PRABHU S</dc:creator>
  <cp:lastModifiedBy>Monika B.R</cp:lastModifiedBy>
  <cp:revision>1974</cp:revision>
  <dcterms:created xsi:type="dcterms:W3CDTF">2022-08-24T07:42:00Z</dcterms:created>
  <dcterms:modified xsi:type="dcterms:W3CDTF">2026-02-25T16:16:49Z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DCAACEC15B884055871368C84B3B77FB_13</vt:lpwstr>
  </property>
  <property fmtid="{D5CDD505-2E9C-101B-9397-08002B2CF9AE}" pid="3" name="KSOProductBuildVer">
    <vt:lpwstr>1033-12.2.0.23155</vt:lpwstr>
  </property>
</Properties>
</file>